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86" r:id="rId5"/>
    <p:sldId id="272" r:id="rId6"/>
    <p:sldId id="278" r:id="rId7"/>
    <p:sldId id="279" r:id="rId8"/>
    <p:sldId id="273" r:id="rId9"/>
    <p:sldId id="274" r:id="rId10"/>
    <p:sldId id="261" r:id="rId11"/>
    <p:sldId id="275" r:id="rId12"/>
    <p:sldId id="276" r:id="rId13"/>
    <p:sldId id="277" r:id="rId14"/>
    <p:sldId id="263" r:id="rId15"/>
    <p:sldId id="262" r:id="rId16"/>
    <p:sldId id="287" r:id="rId17"/>
    <p:sldId id="288" r:id="rId18"/>
    <p:sldId id="289" r:id="rId19"/>
    <p:sldId id="280" r:id="rId20"/>
    <p:sldId id="281" r:id="rId21"/>
    <p:sldId id="265" r:id="rId22"/>
    <p:sldId id="271" r:id="rId23"/>
    <p:sldId id="267" r:id="rId24"/>
    <p:sldId id="270" r:id="rId25"/>
    <p:sldId id="268" r:id="rId26"/>
    <p:sldId id="269" r:id="rId2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6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0T03:51:15.461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0152.55664"/>
      <inkml:brushProperty name="anchorY" value="-4386.92969"/>
      <inkml:brushProperty name="scaleFactor" value="0.5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0T03:51:27.567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1168.55664"/>
      <inkml:brushProperty name="anchorY" value="-5402.92969"/>
      <inkml:brushProperty name="scaleFactor" value="0.5"/>
    </inkml:brush>
  </inkml:definitions>
  <inkml:trace contextRef="#ctx0" brushRef="#br0">0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edca4917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edca4917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edca4917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edca4917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edca49173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edca49173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746B0923-AA7E-E6B0-CE14-D5EBBF84E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edca49173_0_21:notes">
            <a:extLst>
              <a:ext uri="{FF2B5EF4-FFF2-40B4-BE49-F238E27FC236}">
                <a16:creationId xmlns:a16="http://schemas.microsoft.com/office/drawing/2014/main" id="{BAA7A365-C0BF-98B1-06EC-39D7678B12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edca49173_0_21:notes">
            <a:extLst>
              <a:ext uri="{FF2B5EF4-FFF2-40B4-BE49-F238E27FC236}">
                <a16:creationId xmlns:a16="http://schemas.microsoft.com/office/drawing/2014/main" id="{3A7FEEAF-A9C8-2061-E1C6-340D15759C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2842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edca49173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edca49173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edca49173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edca49173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1024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dca4917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dca49173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171C9539-4902-0F90-7524-C24443BD9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dca49173_0_27:notes">
            <a:extLst>
              <a:ext uri="{FF2B5EF4-FFF2-40B4-BE49-F238E27FC236}">
                <a16:creationId xmlns:a16="http://schemas.microsoft.com/office/drawing/2014/main" id="{241AE87F-6F1E-BD8E-D0BF-E650A2B8BB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dca49173_0_27:notes">
            <a:extLst>
              <a:ext uri="{FF2B5EF4-FFF2-40B4-BE49-F238E27FC236}">
                <a16:creationId xmlns:a16="http://schemas.microsoft.com/office/drawing/2014/main" id="{DC316602-9119-B6B7-B679-FFE6FF546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187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dca49173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dca49173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edca4917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edca4917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edca49173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aedca49173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edca49173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edca49173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4.xml"/><Relationship Id="rId2" Type="http://schemas.openxmlformats.org/officeDocument/2006/relationships/slide" Target="slide2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4.xml"/><Relationship Id="rId2" Type="http://schemas.openxmlformats.org/officeDocument/2006/relationships/slide" Target="slide23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Avadh-Ladani-0/vForensIQ/tree/main-debug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slide" Target="slide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dirty="0"/>
              <a:t>Fast Forwarding CCTV insights</a:t>
            </a:r>
            <a:endParaRPr sz="4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 with LLM &amp; CV</a:t>
            </a:r>
            <a:endParaRPr sz="30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3635574"/>
            <a:ext cx="8520600" cy="15079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Avadh Ladani</a:t>
            </a: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24MCD009 - </a:t>
            </a:r>
            <a:r>
              <a:rPr lang="en-GB" sz="2000" dirty="0" err="1"/>
              <a:t>M.Tech</a:t>
            </a:r>
            <a:r>
              <a:rPr lang="en-GB" sz="2000" dirty="0"/>
              <a:t> CSE(Data Science)</a:t>
            </a: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Guided By: Dr. Gaurang Raval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Problem Definition</a:t>
            </a:r>
            <a:endParaRPr b="1"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Surveillance cameras produce massive video streams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Manual review is slow, labour-intensive, and prone to oversight.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Existing systems focus on low-level detection/tracking and rely on human interpretation, lacking deeper situational understanding and actionable insights.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Objectives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Develop intelligent human language query mechanism for CCTV post analysis using LLM and modern Computer Vision models.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Implement seamless integration between CV models and Large Language Models to enable reasoning, summarization, and natural language querying.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Improve the efficiency and accuracy of surveillance analysis for both real-time and historical data.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Enable comprehensive, time-stamped analysis of historical surveillance events through LLM-based querying.</a:t>
            </a:r>
            <a:endParaRPr dirty="0"/>
          </a:p>
          <a:p>
            <a:pPr marL="45720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3100" b="1" dirty="0"/>
              <a:t>Progress </a:t>
            </a:r>
            <a:r>
              <a:rPr lang="en-GB" sz="2000" b="1" dirty="0"/>
              <a:t>(Review 1 and 2)</a:t>
            </a:r>
            <a:endParaRPr dirty="0"/>
          </a:p>
        </p:txBody>
      </p:sp>
      <p:sp>
        <p:nvSpPr>
          <p:cNvPr id="116" name="Google Shape;116;p23"/>
          <p:cNvSpPr txBox="1">
            <a:spLocks noGrp="1"/>
          </p:cNvSpPr>
          <p:nvPr>
            <p:ph type="body" idx="1"/>
          </p:nvPr>
        </p:nvSpPr>
        <p:spPr>
          <a:xfrm>
            <a:off x="311700" y="1152474"/>
            <a:ext cx="8520600" cy="36276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>
              <a:buClr>
                <a:schemeClr val="dk2"/>
              </a:buClr>
              <a:buSzPts val="1800"/>
              <a:buFont typeface="Arial"/>
              <a:buChar char="●"/>
            </a:lvl1pPr>
            <a:lvl2pPr>
              <a:buClr>
                <a:schemeClr val="dk2"/>
              </a:buClr>
              <a:buSzPts val="1400"/>
              <a:buFont typeface="Arial"/>
              <a:buChar char="○"/>
            </a:lvl2pPr>
            <a:lvl3pPr>
              <a:buClr>
                <a:schemeClr val="dk2"/>
              </a:buClr>
              <a:buSzPts val="1400"/>
              <a:buFont typeface="Arial"/>
              <a:buChar char="■"/>
            </a:lvl3pPr>
            <a:lvl4pPr>
              <a:buClr>
                <a:schemeClr val="dk2"/>
              </a:buClr>
              <a:buSzPts val="1400"/>
              <a:buFont typeface="Arial"/>
              <a:buChar char="●"/>
            </a:lvl4pPr>
            <a:lvl5pPr>
              <a:buClr>
                <a:schemeClr val="dk2"/>
              </a:buClr>
              <a:buSzPts val="1400"/>
              <a:buFont typeface="Arial"/>
              <a:buChar char="○"/>
            </a:lvl5pPr>
            <a:lvl6pPr>
              <a:buClr>
                <a:schemeClr val="dk2"/>
              </a:buClr>
              <a:buSzPts val="1400"/>
              <a:buFont typeface="Arial"/>
              <a:buChar char="■"/>
            </a:lvl6pPr>
            <a:lvl7pPr>
              <a:buClr>
                <a:schemeClr val="dk2"/>
              </a:buClr>
              <a:buSzPts val="1400"/>
              <a:buFont typeface="Arial"/>
              <a:buChar char="●"/>
            </a:lvl7pPr>
            <a:lvl8pPr>
              <a:buClr>
                <a:schemeClr val="dk2"/>
              </a:buClr>
              <a:buSzPts val="1400"/>
              <a:buFont typeface="Arial"/>
              <a:buChar char="○"/>
            </a:lvl8pPr>
            <a:lvl9pPr>
              <a:buClr>
                <a:schemeClr val="dk2"/>
              </a:buClr>
              <a:buSzPts val="1400"/>
              <a:buFont typeface="Arial"/>
              <a:buChar char="■"/>
            </a:lvl9pPr>
          </a:lstStyle>
          <a:p>
            <a:pPr>
              <a:lnSpc>
                <a:spcPct val="150000"/>
              </a:lnSpc>
            </a:pPr>
            <a:r>
              <a:rPr lang="en-IN" sz="1600" dirty="0"/>
              <a:t>Concept finalized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Literature survey completed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System architecture designed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Feasibility validated for CV event detection 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Implemented </a:t>
            </a:r>
            <a:r>
              <a:rPr lang="en-IN" sz="1600" b="1" dirty="0"/>
              <a:t>4 CV event detectors</a:t>
            </a:r>
            <a:r>
              <a:rPr lang="en-IN" sz="1600" dirty="0"/>
              <a:t>: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en-IN" sz="1600" dirty="0"/>
              <a:t>Person entry/exit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en-IN" sz="1600" dirty="0"/>
              <a:t>Vehicle entry/exit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en-IN" sz="1600" dirty="0"/>
              <a:t>Crowd formation/density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en-IN" sz="1600" dirty="0"/>
              <a:t>Abandoned object detection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Built </a:t>
            </a:r>
            <a:r>
              <a:rPr lang="en-IN" sz="1600" b="1" dirty="0"/>
              <a:t>real-time JSON log generator</a:t>
            </a:r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B30138D-4D53-2507-ECC2-2736B46A88B8}"/>
                  </a:ext>
                </a:extLst>
              </p14:cNvPr>
              <p14:cNvContentPartPr/>
              <p14:nvPr/>
            </p14:nvContentPartPr>
            <p14:xfrm>
              <a:off x="1628145" y="1538494"/>
              <a:ext cx="360" cy="360"/>
            </p14:xfrm>
          </p:contentPart>
        </mc:Choice>
        <mc:Fallback xmlns:a16="http://schemas.microsoft.com/office/drawing/2014/main"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B30138D-4D53-2507-ECC2-2736B46A88B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19145" y="152985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9B40EF2-54E5-758B-4268-C07AD3746336}"/>
                  </a:ext>
                </a:extLst>
              </p14:cNvPr>
              <p14:cNvContentPartPr/>
              <p14:nvPr/>
            </p14:nvContentPartPr>
            <p14:xfrm>
              <a:off x="966465" y="1486654"/>
              <a:ext cx="360" cy="360"/>
            </p14:xfrm>
          </p:contentPart>
        </mc:Choice>
        <mc:Fallback xmlns:a16="http://schemas.microsoft.com/office/drawing/2014/main"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9B40EF2-54E5-758B-4268-C07AD374633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7465" y="147765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42B47-610A-53BA-83E5-EE9D291E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Progress </a:t>
            </a:r>
            <a:r>
              <a:rPr lang="en-GB" sz="1800" b="1" dirty="0"/>
              <a:t>(Review 3)</a:t>
            </a:r>
            <a:endParaRPr lang="en-IN" sz="18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FAD1-DC34-B4C2-B581-3613ECD86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>
              <a:buFontTx/>
              <a:buChar char="-"/>
            </a:pPr>
            <a:endParaRPr lang="en-IN" dirty="0"/>
          </a:p>
          <a:p>
            <a:pPr>
              <a:buFontTx/>
              <a:buChar char="-"/>
            </a:pPr>
            <a:r>
              <a:rPr lang="en-IN" dirty="0"/>
              <a:t>Buit an entire code pipeline which simulates a tech event’s CCTV log data</a:t>
            </a:r>
          </a:p>
          <a:p>
            <a:pPr>
              <a:buFontTx/>
              <a:buChar char="-"/>
            </a:pPr>
            <a:r>
              <a:rPr lang="en-IN" dirty="0"/>
              <a:t>Implemented the LLM integration for RAG with 2 different approaches</a:t>
            </a:r>
            <a:br>
              <a:rPr lang="en-IN" dirty="0"/>
            </a:br>
            <a:r>
              <a:rPr lang="en-IN" dirty="0"/>
              <a:t>1. Text-to-SQL architecture</a:t>
            </a:r>
            <a:br>
              <a:rPr lang="en-IN" dirty="0"/>
            </a:br>
            <a:r>
              <a:rPr lang="en-IN" dirty="0"/>
              <a:t>2. RAG (dense + sparse) over event narratives and episode summaries</a:t>
            </a:r>
          </a:p>
          <a:p>
            <a:pPr>
              <a:buFontTx/>
              <a:buChar char="-"/>
            </a:pPr>
            <a:r>
              <a:rPr lang="en-IN" dirty="0"/>
              <a:t>Implemented the summarization module.</a:t>
            </a:r>
            <a:br>
              <a:rPr lang="en-IN" dirty="0"/>
            </a:br>
            <a:endParaRPr lang="en-IN" dirty="0"/>
          </a:p>
          <a:p>
            <a:pPr>
              <a:buFontTx/>
              <a:buChar char="-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9541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7861A0-84AF-108C-AF6B-21B5A48840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343498"/>
              </p:ext>
            </p:extLst>
          </p:nvPr>
        </p:nvGraphicFramePr>
        <p:xfrm>
          <a:off x="311150" y="2098675"/>
          <a:ext cx="8521700" cy="1524000"/>
        </p:xfrm>
        <a:graphic>
          <a:graphicData uri="http://schemas.openxmlformats.org/drawingml/2006/table">
            <a:tbl>
              <a:tblPr/>
              <a:tblGrid>
                <a:gridCol w="2130425">
                  <a:extLst>
                    <a:ext uri="{9D8B030D-6E8A-4147-A177-3AD203B41FA5}">
                      <a16:colId xmlns:a16="http://schemas.microsoft.com/office/drawing/2014/main" val="2887483961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661355675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2739534603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1276934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95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222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81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66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092520"/>
                  </a:ext>
                </a:extLst>
              </a:tr>
            </a:tbl>
          </a:graphicData>
        </a:graphic>
      </p:graphicFrame>
      <p:sp>
        <p:nvSpPr>
          <p:cNvPr id="5" name="Google Shape;72;p16">
            <a:extLst>
              <a:ext uri="{FF2B5EF4-FFF2-40B4-BE49-F238E27FC236}">
                <a16:creationId xmlns:a16="http://schemas.microsoft.com/office/drawing/2014/main" id="{351FD693-E04C-27CA-3533-557ABC662E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150" y="444500"/>
            <a:ext cx="852170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B3ECB6-3B68-B408-B9D2-CC320CB2C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937145"/>
              </p:ext>
            </p:extLst>
          </p:nvPr>
        </p:nvGraphicFramePr>
        <p:xfrm>
          <a:off x="436086" y="1071059"/>
          <a:ext cx="7964202" cy="3606098"/>
        </p:xfrm>
        <a:graphic>
          <a:graphicData uri="http://schemas.openxmlformats.org/drawingml/2006/table">
            <a:tbl>
              <a:tblPr/>
              <a:tblGrid>
                <a:gridCol w="346067">
                  <a:extLst>
                    <a:ext uri="{9D8B030D-6E8A-4147-A177-3AD203B41FA5}">
                      <a16:colId xmlns:a16="http://schemas.microsoft.com/office/drawing/2014/main" val="719341381"/>
                    </a:ext>
                  </a:extLst>
                </a:gridCol>
                <a:gridCol w="1961277">
                  <a:extLst>
                    <a:ext uri="{9D8B030D-6E8A-4147-A177-3AD203B41FA5}">
                      <a16:colId xmlns:a16="http://schemas.microsoft.com/office/drawing/2014/main" val="3289725850"/>
                    </a:ext>
                  </a:extLst>
                </a:gridCol>
                <a:gridCol w="1251260">
                  <a:extLst>
                    <a:ext uri="{9D8B030D-6E8A-4147-A177-3AD203B41FA5}">
                      <a16:colId xmlns:a16="http://schemas.microsoft.com/office/drawing/2014/main" val="506610225"/>
                    </a:ext>
                  </a:extLst>
                </a:gridCol>
                <a:gridCol w="1548070">
                  <a:extLst>
                    <a:ext uri="{9D8B030D-6E8A-4147-A177-3AD203B41FA5}">
                      <a16:colId xmlns:a16="http://schemas.microsoft.com/office/drawing/2014/main" val="3146418314"/>
                    </a:ext>
                  </a:extLst>
                </a:gridCol>
                <a:gridCol w="2290600">
                  <a:extLst>
                    <a:ext uri="{9D8B030D-6E8A-4147-A177-3AD203B41FA5}">
                      <a16:colId xmlns:a16="http://schemas.microsoft.com/office/drawing/2014/main" val="168766013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748629635"/>
                    </a:ext>
                  </a:extLst>
                </a:gridCol>
              </a:tblGrid>
              <a:tr h="1985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Sr.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Title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Model / Core Tech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Take Away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Ref.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2240"/>
                  </a:ext>
                </a:extLst>
              </a:tr>
              <a:tr h="7707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1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YOLOv7 Real-time Object Detection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MS COCO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YOLOv7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High-accuracy, real-time detector suitable for CCTV feeds; validates real-time event detection feasibility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358358"/>
                  </a:ext>
                </a:extLst>
              </a:tr>
              <a:tr h="6072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2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YOLOv8 Feature Analysis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MS COCO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YOLOv8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Strong detection performance; anchor-free design reduces computation for CCTV tasks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673368"/>
                  </a:ext>
                </a:extLst>
              </a:tr>
              <a:tr h="6072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3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FLAME: Fire Detection via DNN + Motion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Fire datasets, LFDN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YOLOv8 + Background Modeling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Hybrid models reduce false positives; demonstrates domain-specific event detection reliability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9809579"/>
                  </a:ext>
                </a:extLst>
              </a:tr>
              <a:tr h="5255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4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Abnormal Event Detection in CCTV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UCSD, Avenue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CNN–LSTM Autoencoder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Detects anomalies via reconstruction error; supports temporal event </a:t>
                      </a: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modeling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72443"/>
                  </a:ext>
                </a:extLst>
              </a:tr>
              <a:tr h="852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5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Surveillance Event Detection Review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TRECVID SED, </a:t>
                      </a: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ActEV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3D CNNs + Multi-stage Detectors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Reinforces complexity of surveillance events; validates modular CV–LLM pipeline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700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795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65C54-570A-C8CA-E5CA-1136C9AA6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B1CE20-D8A1-3593-9943-FA23218720F6}"/>
              </a:ext>
            </a:extLst>
          </p:cNvPr>
          <p:cNvGraphicFramePr>
            <a:graphicFrameLocks noGrp="1"/>
          </p:cNvGraphicFramePr>
          <p:nvPr/>
        </p:nvGraphicFramePr>
        <p:xfrm>
          <a:off x="311150" y="2098675"/>
          <a:ext cx="8521700" cy="1524000"/>
        </p:xfrm>
        <a:graphic>
          <a:graphicData uri="http://schemas.openxmlformats.org/drawingml/2006/table">
            <a:tbl>
              <a:tblPr/>
              <a:tblGrid>
                <a:gridCol w="2130425">
                  <a:extLst>
                    <a:ext uri="{9D8B030D-6E8A-4147-A177-3AD203B41FA5}">
                      <a16:colId xmlns:a16="http://schemas.microsoft.com/office/drawing/2014/main" val="2887483961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661355675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2739534603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1276934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95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222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81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66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092520"/>
                  </a:ext>
                </a:extLst>
              </a:tr>
            </a:tbl>
          </a:graphicData>
        </a:graphic>
      </p:graphicFrame>
      <p:sp>
        <p:nvSpPr>
          <p:cNvPr id="5" name="Google Shape;72;p16">
            <a:extLst>
              <a:ext uri="{FF2B5EF4-FFF2-40B4-BE49-F238E27FC236}">
                <a16:creationId xmlns:a16="http://schemas.microsoft.com/office/drawing/2014/main" id="{17523601-04A0-EA58-16DB-426AD2EEC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150" y="444500"/>
            <a:ext cx="852170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F3635E-4063-0051-B7B8-10898B5CD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2648"/>
              </p:ext>
            </p:extLst>
          </p:nvPr>
        </p:nvGraphicFramePr>
        <p:xfrm>
          <a:off x="405606" y="1017588"/>
          <a:ext cx="7906973" cy="4026507"/>
        </p:xfrm>
        <a:graphic>
          <a:graphicData uri="http://schemas.openxmlformats.org/drawingml/2006/table">
            <a:tbl>
              <a:tblPr/>
              <a:tblGrid>
                <a:gridCol w="301530">
                  <a:extLst>
                    <a:ext uri="{9D8B030D-6E8A-4147-A177-3AD203B41FA5}">
                      <a16:colId xmlns:a16="http://schemas.microsoft.com/office/drawing/2014/main" val="719341381"/>
                    </a:ext>
                  </a:extLst>
                </a:gridCol>
                <a:gridCol w="2078736">
                  <a:extLst>
                    <a:ext uri="{9D8B030D-6E8A-4147-A177-3AD203B41FA5}">
                      <a16:colId xmlns:a16="http://schemas.microsoft.com/office/drawing/2014/main" val="3289725850"/>
                    </a:ext>
                  </a:extLst>
                </a:gridCol>
                <a:gridCol w="1313084">
                  <a:extLst>
                    <a:ext uri="{9D8B030D-6E8A-4147-A177-3AD203B41FA5}">
                      <a16:colId xmlns:a16="http://schemas.microsoft.com/office/drawing/2014/main" val="506610225"/>
                    </a:ext>
                  </a:extLst>
                </a:gridCol>
                <a:gridCol w="1283812">
                  <a:extLst>
                    <a:ext uri="{9D8B030D-6E8A-4147-A177-3AD203B41FA5}">
                      <a16:colId xmlns:a16="http://schemas.microsoft.com/office/drawing/2014/main" val="3146418314"/>
                    </a:ext>
                  </a:extLst>
                </a:gridCol>
                <a:gridCol w="2157984">
                  <a:extLst>
                    <a:ext uri="{9D8B030D-6E8A-4147-A177-3AD203B41FA5}">
                      <a16:colId xmlns:a16="http://schemas.microsoft.com/office/drawing/2014/main" val="1687660133"/>
                    </a:ext>
                  </a:extLst>
                </a:gridCol>
                <a:gridCol w="771827">
                  <a:extLst>
                    <a:ext uri="{9D8B030D-6E8A-4147-A177-3AD203B41FA5}">
                      <a16:colId xmlns:a16="http://schemas.microsoft.com/office/drawing/2014/main" val="748629635"/>
                    </a:ext>
                  </a:extLst>
                </a:gridCol>
              </a:tblGrid>
              <a:tr h="21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Sr.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Title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Model / Core Tech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Take Away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Ref.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2240"/>
                  </a:ext>
                </a:extLst>
              </a:tr>
              <a:tr h="746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6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Large Language Models for Video Surveillance Applications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MSR-VTT, CCTV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Gemini Pro Vision (VLM)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Shows VLMs can generate reliable CCTV summaries; heavy for edge deployment but useful for high-level reasoning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2143498"/>
                  </a:ext>
                </a:extLst>
              </a:tr>
              <a:tr h="9235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7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ChatLR: Structured DB Retrieval via LLMs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FinChina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 SQL DB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ChatGLM (LLM)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LLMs can map natural-language queries to structured operations, enabling forensic querying on event logs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700264"/>
                  </a:ext>
                </a:extLst>
              </a:tr>
              <a:tr h="4807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8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HyST Hybrid Retrieval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Amazon STaRK 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 + Hybrid Search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Shows LLMs can handle semi-structured tables similar to CCTV logs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291682"/>
                  </a:ext>
                </a:extLst>
              </a:tr>
              <a:tr h="8349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9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StructuredRAG JSON Formatting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JSON Benchmarks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GPT, LLaMA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Evaluates LLM structured-output reliability; informs structured insight generation design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64517"/>
                  </a:ext>
                </a:extLst>
              </a:tr>
              <a:tr h="3654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1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0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LLM-based Log Analysis Survey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Various Log Corpora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LLMs (RAG, Fine-Tuning)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LLMs reduce manual log-review effort and surface hidden patterns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329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0672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35CB19F4-115E-7DB1-A2FB-5B8FC5723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>
            <a:extLst>
              <a:ext uri="{FF2B5EF4-FFF2-40B4-BE49-F238E27FC236}">
                <a16:creationId xmlns:a16="http://schemas.microsoft.com/office/drawing/2014/main" id="{6418EA59-DEBD-C431-E236-3819630D38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22F999-CDF8-A443-7B5D-FDB1E61107E9}"/>
              </a:ext>
            </a:extLst>
          </p:cNvPr>
          <p:cNvSpPr txBox="1"/>
          <p:nvPr/>
        </p:nvSpPr>
        <p:spPr>
          <a:xfrm>
            <a:off x="416312" y="1226634"/>
            <a:ext cx="7942828" cy="3350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chemeClr val="bg2"/>
                </a:solidFill>
              </a:rPr>
              <a:t>1. CV for CCTV Event Detection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2"/>
                </a:solidFill>
              </a:rPr>
              <a:t>Selected papers include state-of-the-art detectors (YOLOv7/YOLOv8) and domain-specific CCTV event studies (abandoned object, fire, anomaly detection). These works confirm that reliable, real-time CV pipelines can generate accurate structured logs required for downstream analysis.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chemeClr val="bg2"/>
                </a:solidFill>
              </a:rPr>
              <a:t>2. LLM Reasoning on Structured Data (SQL/JSON)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2"/>
                </a:solidFill>
              </a:rPr>
              <a:t>Surveyed research shows that modern LLMs can convert natural language into database queries, interpret semi-structured tables/logs, and generate meaningful summaries and insights. These capabilities form the core of our system’s forensic intelligence.</a:t>
            </a:r>
          </a:p>
          <a:p>
            <a:pPr>
              <a:lnSpc>
                <a:spcPct val="150000"/>
              </a:lnSpc>
            </a:pPr>
            <a:endParaRPr lang="en-IN" sz="15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818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AABEC-7D78-3BF6-99E3-C631CEC8C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Literature Review</a:t>
            </a:r>
            <a:endParaRPr lang="en-IN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704BD-9A46-3B41-0B3E-35F94751D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US" b="1" dirty="0"/>
              <a:t>Summary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dirty="0"/>
              <a:t>Combined, these papers validate our architecture: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CV extracts events</a:t>
            </a:r>
            <a:r>
              <a:rPr lang="en-US" dirty="0"/>
              <a:t>,</a:t>
            </a:r>
          </a:p>
          <a:p>
            <a:pPr>
              <a:lnSpc>
                <a:spcPct val="150000"/>
              </a:lnSpc>
            </a:pPr>
            <a:r>
              <a:rPr lang="en-US" b="1" dirty="0"/>
              <a:t>LLM performs reasoning and insight generation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which is the main focus of the project.</a:t>
            </a:r>
          </a:p>
        </p:txBody>
      </p:sp>
    </p:spTree>
    <p:extLst>
      <p:ext uri="{BB962C8B-B14F-4D97-AF65-F5344CB8AC3E}">
        <p14:creationId xmlns:p14="http://schemas.microsoft.com/office/powerpoint/2010/main" val="793514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System Flow Diagram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85" name="Google Shape;8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200" y="1085149"/>
            <a:ext cx="8114000" cy="36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8"/>
          <p:cNvSpPr txBox="1"/>
          <p:nvPr/>
        </p:nvSpPr>
        <p:spPr>
          <a:xfrm>
            <a:off x="3381000" y="4598350"/>
            <a:ext cx="250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System Flow Diagram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A32E4-FF1A-47C4-D9B1-7C222EB64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1435DD-F897-1C97-4AD0-7F148CCCBA81}"/>
              </a:ext>
            </a:extLst>
          </p:cNvPr>
          <p:cNvSpPr txBox="1"/>
          <p:nvPr/>
        </p:nvSpPr>
        <p:spPr>
          <a:xfrm>
            <a:off x="379141" y="1017725"/>
            <a:ext cx="8184996" cy="4109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2"/>
                </a:solidFill>
              </a:rPr>
              <a:t>1. CCTV Perception Layer</a:t>
            </a:r>
            <a:endParaRPr lang="en-US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bg2"/>
                </a:solidFill>
              </a:rPr>
              <a:t>Multiple CCTV cameras capture continuous video streams.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bg2"/>
                </a:solidFill>
              </a:rPr>
              <a:t>Lightweight CV models (YOLO + tracking) run locally on each stream to detect persons, vehicles, objects, and basic events.</a:t>
            </a: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2"/>
                </a:solidFill>
              </a:rPr>
              <a:t>2. Local Event Processing</a:t>
            </a:r>
            <a:endParaRPr lang="en-US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bg2"/>
                </a:solidFill>
              </a:rPr>
              <a:t>Detected objects are passed to an event classification module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dirty="0">
                <a:solidFill>
                  <a:schemeClr val="bg2"/>
                </a:solidFill>
              </a:rPr>
              <a:t>(entry/exit, crowd changes, abandoned objects, etc.).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bg2"/>
                </a:solidFill>
              </a:rPr>
              <a:t>A structured JSON log generator converts detections into clean event records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i="1" dirty="0">
                <a:solidFill>
                  <a:schemeClr val="bg2"/>
                </a:solidFill>
              </a:rPr>
              <a:t>(timestamp, camera ID, event type, confidence, object ID, location)</a:t>
            </a:r>
            <a:r>
              <a:rPr lang="en-US" sz="1600" dirty="0">
                <a:solidFill>
                  <a:schemeClr val="bg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endParaRPr lang="en-IN" sz="1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1485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BB8BE-65A8-A0F8-9BC6-885CED06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7D6775-2F96-4B61-BD6C-AAE4CD86E6E1}"/>
              </a:ext>
            </a:extLst>
          </p:cNvPr>
          <p:cNvSpPr txBox="1"/>
          <p:nvPr/>
        </p:nvSpPr>
        <p:spPr>
          <a:xfrm>
            <a:off x="364273" y="1122556"/>
            <a:ext cx="7505581" cy="3739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solidFill>
                  <a:schemeClr val="bg2"/>
                </a:solidFill>
              </a:rPr>
              <a:t>3. Central Database &amp; Storage</a:t>
            </a:r>
            <a:endParaRPr lang="en-IN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All logs are aggregated and indexed for fast retrieval.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Historical archive maintains long-term event data for forensic analysis.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Database acts as the knowledge base for LLM querying.</a:t>
            </a:r>
          </a:p>
          <a:p>
            <a:pPr>
              <a:lnSpc>
                <a:spcPct val="150000"/>
              </a:lnSpc>
            </a:pPr>
            <a:endParaRPr lang="en-IN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600" b="1" dirty="0">
                <a:solidFill>
                  <a:schemeClr val="bg2"/>
                </a:solidFill>
              </a:rPr>
              <a:t>4. LLM Analytics Layer</a:t>
            </a:r>
            <a:endParaRPr lang="en-IN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The Query Interpreter converts user natural-language queries into SQL/filters.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The LLM Reasoning Engine performs temporal, spatial, and semantic reasoning.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Insight Generator produces summaries, trends, correlations, and answers.</a:t>
            </a:r>
          </a:p>
          <a:p>
            <a:pPr>
              <a:lnSpc>
                <a:spcPct val="150000"/>
              </a:lnSpc>
            </a:pPr>
            <a:endParaRPr lang="en-IN" sz="1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33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33AD-6D5C-95B2-9AB5-93902A85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7B501C-FFC1-D2AC-80DA-003219A8E259}"/>
              </a:ext>
            </a:extLst>
          </p:cNvPr>
          <p:cNvSpPr txBox="1"/>
          <p:nvPr/>
        </p:nvSpPr>
        <p:spPr>
          <a:xfrm>
            <a:off x="4430751" y="1192997"/>
            <a:ext cx="4713249" cy="3739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solidFill>
                  <a:schemeClr val="bg2"/>
                </a:solidFill>
              </a:rPr>
              <a:t>5. User Interaction Layer</a:t>
            </a:r>
            <a:endParaRPr lang="en-IN" sz="16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Users ask questions in plain language.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chemeClr val="bg2"/>
                </a:solidFill>
              </a:rPr>
              <a:t>System returns concise insights, reports, or event analytics.</a:t>
            </a:r>
          </a:p>
          <a:p>
            <a:pPr>
              <a:lnSpc>
                <a:spcPct val="150000"/>
              </a:lnSpc>
            </a:pPr>
            <a:r>
              <a:rPr lang="en-IN" sz="1600" b="1" dirty="0">
                <a:solidFill>
                  <a:schemeClr val="bg2"/>
                </a:solidFill>
              </a:rPr>
              <a:t>Overall Flow:</a:t>
            </a:r>
            <a:br>
              <a:rPr lang="en-IN" sz="1600" dirty="0">
                <a:solidFill>
                  <a:schemeClr val="bg2"/>
                </a:solidFill>
              </a:rPr>
            </a:br>
            <a:r>
              <a:rPr lang="en-IN" sz="1600" dirty="0">
                <a:solidFill>
                  <a:srgbClr val="00B050"/>
                </a:solidFill>
              </a:rPr>
              <a:t>CV → Structured Logs → Central Database → LLM Reasoning → Insights</a:t>
            </a:r>
          </a:p>
          <a:p>
            <a:pPr>
              <a:lnSpc>
                <a:spcPct val="150000"/>
              </a:lnSpc>
            </a:pPr>
            <a:r>
              <a:rPr lang="en-IN" sz="1600" b="1" dirty="0">
                <a:solidFill>
                  <a:schemeClr val="bg2"/>
                </a:solidFill>
              </a:rPr>
              <a:t>Project </a:t>
            </a:r>
            <a:r>
              <a:rPr lang="en-IN" sz="1600" b="1" dirty="0" err="1">
                <a:solidFill>
                  <a:schemeClr val="bg2"/>
                </a:solidFill>
              </a:rPr>
              <a:t>Github</a:t>
            </a:r>
            <a:r>
              <a:rPr lang="en-IN" sz="1600" b="1" dirty="0">
                <a:solidFill>
                  <a:schemeClr val="bg2"/>
                </a:solidFill>
              </a:rPr>
              <a:t> Link: </a:t>
            </a:r>
            <a:br>
              <a:rPr lang="en-IN" sz="1600" b="1" dirty="0">
                <a:solidFill>
                  <a:schemeClr val="bg2"/>
                </a:solidFill>
              </a:rPr>
            </a:br>
            <a:r>
              <a:rPr lang="en-IN" sz="1600" dirty="0">
                <a:solidFill>
                  <a:schemeClr val="bg2"/>
                </a:solidFill>
              </a:rPr>
              <a:t> </a:t>
            </a:r>
            <a:r>
              <a:rPr lang="en-IN" sz="1600" dirty="0">
                <a:solidFill>
                  <a:schemeClr val="accent1"/>
                </a:solidFill>
                <a:hlinkClick r:id="rId2"/>
              </a:rPr>
              <a:t>https://github.com/Avadh-Ladani-0/vForensIQ/tree/main-debug</a:t>
            </a:r>
            <a:endParaRPr lang="en-IN" sz="1600" dirty="0">
              <a:solidFill>
                <a:schemeClr val="accent1"/>
              </a:solidFill>
            </a:endParaRPr>
          </a:p>
        </p:txBody>
      </p:sp>
      <p:pic>
        <p:nvPicPr>
          <p:cNvPr id="5" name="Google Shape;92;p19">
            <a:extLst>
              <a:ext uri="{FF2B5EF4-FFF2-40B4-BE49-F238E27FC236}">
                <a16:creationId xmlns:a16="http://schemas.microsoft.com/office/drawing/2014/main" id="{237AACE7-DCBB-FC3F-4A3E-A4FC287BE2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366" y="1192997"/>
            <a:ext cx="4443272" cy="32826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4826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CV Event Detection and Data </a:t>
            </a:r>
            <a:r>
              <a:rPr lang="en-GB" b="1" dirty="0" err="1"/>
              <a:t>Pipepline</a:t>
            </a:r>
            <a:endParaRPr b="1"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Per-camera lightweight CV inference: object detection (persons, vehicles, bags), event classification (entry/exit, loitering, abandoned object), tracking (</a:t>
            </a:r>
            <a:r>
              <a:rPr lang="en-GB" sz="1600" dirty="0" err="1"/>
              <a:t>DeepSORT</a:t>
            </a:r>
            <a:r>
              <a:rPr lang="en-GB" sz="1600" dirty="0"/>
              <a:t>/</a:t>
            </a:r>
            <a:r>
              <a:rPr lang="en-GB" sz="1600" dirty="0" err="1"/>
              <a:t>ByteTrack</a:t>
            </a:r>
            <a:r>
              <a:rPr lang="en-GB" sz="1600" dirty="0"/>
              <a:t>), metadata extraction (timestamp, camera ID, confidence)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Only structured JSON logs sent to central storage (not raw video) to optimize performance and privacy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Central database: aggregates and indexes logs by event type, time, camera, location; maintains historical archives; schema fields include timestamp, </a:t>
            </a:r>
            <a:r>
              <a:rPr lang="en-GB" sz="1600" dirty="0" err="1"/>
              <a:t>camera_id</a:t>
            </a:r>
            <a:r>
              <a:rPr lang="en-GB" sz="1600" dirty="0"/>
              <a:t>, </a:t>
            </a:r>
            <a:r>
              <a:rPr lang="en-GB" sz="1600" dirty="0" err="1"/>
              <a:t>event_type</a:t>
            </a:r>
            <a:r>
              <a:rPr lang="en-GB" sz="1600" dirty="0"/>
              <a:t>, </a:t>
            </a:r>
            <a:r>
              <a:rPr lang="en-GB" sz="1600" dirty="0" err="1"/>
              <a:t>object_id</a:t>
            </a:r>
            <a:r>
              <a:rPr lang="en-GB" sz="1600" dirty="0"/>
              <a:t>, confidence, location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Validated detectors like YOLOv7/YOLOv8 are suitable for CCTV feeds and real-time event detection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4261786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1773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LLM Reasoning Approach – 1 (NL - SQL)</a:t>
            </a:r>
            <a:endParaRPr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DBE0BC-3D90-FD28-7694-60BC8FF7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612" y="920285"/>
            <a:ext cx="5903573" cy="397501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0BBA83AF-9A92-4A1F-0A3F-2F4E0EC9F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8919E30C-406E-1D2F-238D-5A88EC6C63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73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LLM Reasoning Approach – 2 (RAG)</a:t>
            </a:r>
            <a:endParaRPr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91ACEF-26C9-B4CC-E323-8D333457A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108" y="1141606"/>
            <a:ext cx="6979783" cy="3497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4182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033F9-9182-D6BB-4292-56C1DC29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Description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250A3-01B1-89C6-8A06-2391A9FF3A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3-day synthetic tech-event CCTV dataset (Feb 13-15, 2025, 10:00-17:00 IST).</a:t>
            </a:r>
          </a:p>
          <a:p>
            <a:r>
              <a:rPr lang="en-IN" dirty="0"/>
              <a:t>30-camera setup: vehicle gates, human entrances, and stall coverage.</a:t>
            </a:r>
          </a:p>
          <a:p>
            <a:r>
              <a:rPr lang="en-IN" dirty="0"/>
              <a:t>Captured events: </a:t>
            </a:r>
            <a:r>
              <a:rPr lang="en-IN" dirty="0" err="1"/>
              <a:t>person_entry</a:t>
            </a:r>
            <a:r>
              <a:rPr lang="en-IN" dirty="0"/>
              <a:t>, </a:t>
            </a:r>
            <a:r>
              <a:rPr lang="en-IN" dirty="0" err="1"/>
              <a:t>person_exit</a:t>
            </a:r>
            <a:r>
              <a:rPr lang="en-IN" dirty="0"/>
              <a:t>, </a:t>
            </a:r>
            <a:r>
              <a:rPr lang="en-IN" dirty="0" err="1"/>
              <a:t>vehicle_entry</a:t>
            </a:r>
            <a:r>
              <a:rPr lang="en-IN" dirty="0"/>
              <a:t>, </a:t>
            </a:r>
            <a:r>
              <a:rPr lang="en-IN" dirty="0" err="1"/>
              <a:t>vehicle_exit</a:t>
            </a:r>
            <a:r>
              <a:rPr lang="en-IN" dirty="0"/>
              <a:t>, </a:t>
            </a:r>
            <a:r>
              <a:rPr lang="en-IN" dirty="0" err="1"/>
              <a:t>unattended_object</a:t>
            </a:r>
            <a:r>
              <a:rPr lang="en-IN" dirty="0"/>
              <a:t>, </a:t>
            </a:r>
            <a:r>
              <a:rPr lang="en-IN" dirty="0" err="1"/>
              <a:t>person_count</a:t>
            </a:r>
            <a:r>
              <a:rPr lang="en-IN" dirty="0"/>
              <a:t>.</a:t>
            </a:r>
          </a:p>
          <a:p>
            <a:r>
              <a:rPr lang="en-IN" dirty="0"/>
              <a:t>Per-second crowd counts for stall cameras, event-driven logs for entry/exit/incidents.</a:t>
            </a:r>
          </a:p>
          <a:p>
            <a:r>
              <a:rPr lang="en-IN" dirty="0"/>
              <a:t>Realistic </a:t>
            </a:r>
            <a:r>
              <a:rPr lang="en-IN" dirty="0" err="1"/>
              <a:t>behavior</a:t>
            </a:r>
            <a:r>
              <a:rPr lang="en-IN" dirty="0"/>
              <a:t> </a:t>
            </a:r>
            <a:r>
              <a:rPr lang="en-IN" dirty="0" err="1"/>
              <a:t>modeling</a:t>
            </a:r>
            <a:r>
              <a:rPr lang="en-IN" dirty="0"/>
              <a:t>: crowd waves, dwell times, gate preferences, highlight peaks.</a:t>
            </a:r>
          </a:p>
        </p:txBody>
      </p:sp>
    </p:spTree>
    <p:extLst>
      <p:ext uri="{BB962C8B-B14F-4D97-AF65-F5344CB8AC3E}">
        <p14:creationId xmlns:p14="http://schemas.microsoft.com/office/powerpoint/2010/main" val="4268392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11597-CA66-0905-776C-90E23796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Sample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5995E-515A-CBE7-CD30-B856A820C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cam_id</a:t>
            </a:r>
            <a:r>
              <a:rPr lang="en-US" dirty="0"/>
              <a:t> : </a:t>
            </a:r>
          </a:p>
          <a:p>
            <a:r>
              <a:rPr lang="en-US" dirty="0" err="1"/>
              <a:t>captured_event</a:t>
            </a:r>
            <a:r>
              <a:rPr lang="en-US" dirty="0"/>
              <a:t> :  </a:t>
            </a:r>
            <a:r>
              <a:rPr lang="en-IN" dirty="0" err="1"/>
              <a:t>person_entry</a:t>
            </a:r>
            <a:r>
              <a:rPr lang="en-IN" dirty="0"/>
              <a:t>, </a:t>
            </a:r>
            <a:r>
              <a:rPr lang="en-IN" dirty="0" err="1"/>
              <a:t>person_exit</a:t>
            </a:r>
            <a:r>
              <a:rPr lang="en-IN" dirty="0"/>
              <a:t>, </a:t>
            </a:r>
            <a:r>
              <a:rPr lang="en-IN" dirty="0" err="1"/>
              <a:t>vehicle_entry</a:t>
            </a:r>
            <a:r>
              <a:rPr lang="en-IN" dirty="0"/>
              <a:t>, </a:t>
            </a:r>
            <a:r>
              <a:rPr lang="en-IN" dirty="0" err="1"/>
              <a:t>vehicle_exit</a:t>
            </a:r>
            <a:r>
              <a:rPr lang="en-IN" dirty="0"/>
              <a:t>, </a:t>
            </a:r>
            <a:r>
              <a:rPr lang="en-IN" dirty="0" err="1"/>
              <a:t>unattended_object</a:t>
            </a:r>
            <a:r>
              <a:rPr lang="en-IN" dirty="0"/>
              <a:t>, </a:t>
            </a:r>
            <a:r>
              <a:rPr lang="en-IN" dirty="0" err="1"/>
              <a:t>person_count</a:t>
            </a:r>
            <a:r>
              <a:rPr lang="en-US" dirty="0"/>
              <a:t> </a:t>
            </a:r>
          </a:p>
          <a:p>
            <a:r>
              <a:rPr lang="en-US" dirty="0"/>
              <a:t>Timestamp : </a:t>
            </a:r>
            <a:r>
              <a:rPr lang="en-IN" dirty="0"/>
              <a:t>1739421000</a:t>
            </a:r>
            <a:endParaRPr lang="en-US" dirty="0"/>
          </a:p>
          <a:p>
            <a:r>
              <a:rPr lang="en-US" dirty="0" err="1"/>
              <a:t>location_tag</a:t>
            </a:r>
            <a:r>
              <a:rPr lang="en-US" dirty="0"/>
              <a:t> : ISRO stall</a:t>
            </a:r>
          </a:p>
          <a:p>
            <a:r>
              <a:rPr lang="en-US" dirty="0" err="1"/>
              <a:t>object_id</a:t>
            </a:r>
            <a:r>
              <a:rPr lang="en-US" dirty="0"/>
              <a:t> : </a:t>
            </a:r>
            <a:r>
              <a:rPr lang="en-IN" dirty="0"/>
              <a:t>pc25_1739421000</a:t>
            </a:r>
            <a:endParaRPr lang="en-US" dirty="0"/>
          </a:p>
          <a:p>
            <a:r>
              <a:rPr lang="en-US" dirty="0" err="1"/>
              <a:t>person_count</a:t>
            </a:r>
            <a:r>
              <a:rPr lang="en-US" dirty="0"/>
              <a:t> : 11</a:t>
            </a:r>
          </a:p>
          <a:p>
            <a:r>
              <a:rPr lang="en-US" dirty="0" err="1"/>
              <a:t>embedding_path</a:t>
            </a:r>
            <a:r>
              <a:rPr lang="en-US" dirty="0"/>
              <a:t> : path of the detected object’s embedding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683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89D3F-476A-A4BE-595D-8254B268A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543" y="140225"/>
            <a:ext cx="8520600" cy="572700"/>
          </a:xfrm>
        </p:spPr>
        <p:txBody>
          <a:bodyPr>
            <a:noAutofit/>
          </a:bodyPr>
          <a:lstStyle/>
          <a:p>
            <a:r>
              <a:rPr lang="en-US" b="1" dirty="0"/>
              <a:t>Demo</a:t>
            </a: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CDC4F5-0C40-09F0-D3A3-B538C4349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6786"/>
            <a:ext cx="9144000" cy="430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650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CA401-C8CA-E368-9F9F-BEE4B4632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Query Examples</a:t>
            </a:r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C2132-BC5A-DA3D-69BC-C7A648129967}"/>
              </a:ext>
            </a:extLst>
          </p:cNvPr>
          <p:cNvSpPr txBox="1"/>
          <p:nvPr/>
        </p:nvSpPr>
        <p:spPr>
          <a:xfrm>
            <a:off x="483220" y="1213129"/>
            <a:ext cx="8520601" cy="3370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Show me the top 3 gates with highest car exit frequency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dirty="0"/>
              <a:t>Identifies high-traffic exit points to optimize traffic flow and security deployment.</a:t>
            </a:r>
            <a:endParaRPr lang="en-US" sz="16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Which locations have the highest person entry count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dirty="0"/>
              <a:t>Highlights high-footfall areas for crowd management and resource allocation.</a:t>
            </a:r>
            <a:endParaRPr lang="en-US" sz="16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Give me an hour-wise distribution of person entries for Platform 2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dirty="0"/>
              <a:t>Reveals peak and off-peak hours to support efficient scheduling and congestion control.</a:t>
            </a:r>
            <a:endParaRPr lang="en-US" sz="16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Show me locations where crowd size exceeded 15 people.</a:t>
            </a:r>
            <a:br>
              <a:rPr lang="en-US" sz="1600" dirty="0">
                <a:solidFill>
                  <a:schemeClr val="bg2"/>
                </a:solidFill>
              </a:rPr>
            </a:br>
            <a:r>
              <a:rPr lang="en-US" sz="1600" dirty="0"/>
              <a:t>Detects potential overcrowding zones for safety monitoring and risk prevention.</a:t>
            </a:r>
            <a:endParaRPr lang="en-US" sz="16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1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1053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/>
              <a:t>Future Scopes</a:t>
            </a:r>
            <a:endParaRPr b="1" dirty="0"/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39285"/>
              <a:buChar char="●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Fine-tuned LLMs for Surveillance Reasoning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Advanced Query Translation and SQL Generation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Multi-LLM Collaboration or Agentic Pipelines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Complex CV event detection with high accuracy VLMs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Enhanced Log Semantics and Event Ontologies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Human-in-the-Loop Feedback for Continual Learning</a:t>
            </a:r>
            <a:endParaRPr sz="16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600" dirty="0"/>
              <a:t>Contextual Multi-Modal Reasoning</a:t>
            </a:r>
            <a:endParaRPr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6;p23">
            <a:extLst>
              <a:ext uri="{FF2B5EF4-FFF2-40B4-BE49-F238E27FC236}">
                <a16:creationId xmlns:a16="http://schemas.microsoft.com/office/drawing/2014/main" id="{6B08AFE6-6D00-6358-6739-00E34E1FB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4"/>
            <a:ext cx="8520600" cy="36276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IN" b="1" dirty="0"/>
              <a:t>Next Review Plan</a:t>
            </a:r>
            <a:endParaRPr lang="en-IN" dirty="0"/>
          </a:p>
          <a:p>
            <a:pPr>
              <a:lnSpc>
                <a:spcPct val="150000"/>
              </a:lnSpc>
            </a:pPr>
            <a:r>
              <a:rPr lang="en-IN" dirty="0"/>
              <a:t>Create </a:t>
            </a:r>
            <a:r>
              <a:rPr lang="en-IN" b="1" dirty="0"/>
              <a:t>Novel Structured Log Dataset</a:t>
            </a:r>
            <a:r>
              <a:rPr lang="en-IN" dirty="0"/>
              <a:t> from University CCTV footages LLM evaluation</a:t>
            </a:r>
          </a:p>
          <a:p>
            <a:pPr>
              <a:lnSpc>
                <a:spcPct val="150000"/>
              </a:lnSpc>
            </a:pPr>
            <a:r>
              <a:rPr lang="en-IN" dirty="0"/>
              <a:t>Make a proper evaluation and comparison strategy for Research</a:t>
            </a:r>
          </a:p>
          <a:p>
            <a:pPr>
              <a:lnSpc>
                <a:spcPct val="150000"/>
              </a:lnSpc>
            </a:pPr>
            <a:r>
              <a:rPr lang="en-IN" dirty="0"/>
              <a:t>Thesis completion</a:t>
            </a:r>
            <a:endParaRPr lang="en-IN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2BF99-AA0D-853E-0A55-2E69313A6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r>
              <a:rPr lang="en-GB" b="1" dirty="0"/>
              <a:t>Progress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215142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3100" b="1" dirty="0"/>
              <a:t>References</a:t>
            </a:r>
            <a:endParaRPr sz="3100" b="1" dirty="0"/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39285"/>
              <a:buChar char="●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[1]</a:t>
            </a:r>
            <a:r>
              <a:rPr lang="en-IN" sz="1000" dirty="0"/>
              <a:t> U. De Silva, L. Fernando, B. Lau Pik Lik, Z. Koh, S. C. Joyce, B. Yuen, </a:t>
            </a:r>
            <a:r>
              <a:rPr lang="en-IN" sz="1000" dirty="0" err="1"/>
              <a:t>andC</a:t>
            </a:r>
            <a:r>
              <a:rPr lang="en-IN" sz="1000" dirty="0"/>
              <a:t>. Yuen, “Large language models for video surveillance applications,” </a:t>
            </a:r>
            <a:r>
              <a:rPr lang="en-IN" sz="1000" dirty="0" err="1"/>
              <a:t>arXiv</a:t>
            </a:r>
            <a:r>
              <a:rPr lang="en-IN" sz="1000" dirty="0"/>
              <a:t> preprintarXiv:2501.02850, 2025.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[2]</a:t>
            </a:r>
            <a:r>
              <a:rPr lang="en-IN" sz="1000" dirty="0"/>
              <a:t> C.-Y. Wang, A. </a:t>
            </a:r>
            <a:r>
              <a:rPr lang="en-IN" sz="1000" dirty="0" err="1"/>
              <a:t>Bochkovskiy</a:t>
            </a:r>
            <a:r>
              <a:rPr lang="en-IN" sz="1000" dirty="0"/>
              <a:t>, and H.-Y. M. Liao, “Yolov7: Trainable bag-of-freebies sets new state-of-the-art for real-time object detectors,” </a:t>
            </a:r>
            <a:r>
              <a:rPr lang="en-IN" sz="1000" dirty="0" err="1"/>
              <a:t>arXiv</a:t>
            </a:r>
            <a:r>
              <a:rPr lang="en-IN" sz="1000" dirty="0"/>
              <a:t> preprintarXiv:2207.02696, 2022.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[3]</a:t>
            </a:r>
            <a:r>
              <a:rPr lang="en-IN" sz="1000" dirty="0"/>
              <a:t> M. Yaseen, “What is yolov8: An in-depth exploration of the internal features of </a:t>
            </a:r>
            <a:r>
              <a:rPr lang="en-IN" sz="1000" dirty="0" err="1"/>
              <a:t>thenext</a:t>
            </a:r>
            <a:r>
              <a:rPr lang="en-IN" sz="1000" dirty="0"/>
              <a:t>-generation object detector,” </a:t>
            </a:r>
            <a:r>
              <a:rPr lang="en-IN" sz="1000" dirty="0" err="1"/>
              <a:t>arXiv</a:t>
            </a:r>
            <a:r>
              <a:rPr lang="en-IN" sz="1000" dirty="0"/>
              <a:t> preprint arXiv:2408.15857, 2024.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[4]</a:t>
            </a:r>
            <a:r>
              <a:rPr lang="en-IN" sz="1000" dirty="0"/>
              <a:t> D. </a:t>
            </a:r>
            <a:r>
              <a:rPr lang="en-IN" sz="1000" dirty="0" err="1"/>
              <a:t>Gragnaniello</a:t>
            </a:r>
            <a:r>
              <a:rPr lang="en-IN" sz="1000" dirty="0"/>
              <a:t>, A. Greco, C. Sansone, and B. Vento, “FLAME: fire detection </a:t>
            </a:r>
            <a:r>
              <a:rPr lang="en-IN" sz="1000" dirty="0" err="1"/>
              <a:t>invideos</a:t>
            </a:r>
            <a:r>
              <a:rPr lang="en-IN" sz="1000" dirty="0"/>
              <a:t> combining a deep neural network with a model-based motion analysis,” </a:t>
            </a:r>
            <a:r>
              <a:rPr lang="en-IN" sz="1000" dirty="0" err="1"/>
              <a:t>NeuralComputing</a:t>
            </a:r>
            <a:r>
              <a:rPr lang="en-IN" sz="1000" dirty="0"/>
              <a:t> and Applications, vol. 37, pp. 6181–6197, 2025.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[5]</a:t>
            </a:r>
            <a:r>
              <a:rPr lang="en-IN" sz="1000" dirty="0"/>
              <a:t> A. </a:t>
            </a:r>
            <a:r>
              <a:rPr lang="en-IN" sz="1000" dirty="0" err="1"/>
              <a:t>Joemon</a:t>
            </a:r>
            <a:r>
              <a:rPr lang="en-IN" sz="1000" dirty="0"/>
              <a:t>, A. C. Joy, A. V. Prakash, B. Thomas, and D. R, “Abnormal event </a:t>
            </a:r>
            <a:r>
              <a:rPr lang="en-IN" sz="1000" dirty="0" err="1"/>
              <a:t>detec-tion</a:t>
            </a:r>
            <a:r>
              <a:rPr lang="en-IN" sz="1000" dirty="0"/>
              <a:t> using </a:t>
            </a:r>
            <a:r>
              <a:rPr lang="en-IN" sz="1000" dirty="0" err="1"/>
              <a:t>cctv</a:t>
            </a:r>
            <a:r>
              <a:rPr lang="en-IN" sz="1000" dirty="0"/>
              <a:t> camera,” International Journal of Innovative Science and </a:t>
            </a:r>
            <a:r>
              <a:rPr lang="en-IN" sz="1000" dirty="0" err="1"/>
              <a:t>ResearchTechnology</a:t>
            </a:r>
            <a:r>
              <a:rPr lang="en-IN" sz="1000" dirty="0"/>
              <a:t> (IJISRT), vol. 6, no. 6, pp. 608–612, 2021.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[6]</a:t>
            </a:r>
            <a:r>
              <a:rPr lang="en-IN" sz="1000" dirty="0"/>
              <a:t> M. Wang, Y. Zhang, Q. Zhao, J. Yang, and H. Zhang, “Redefining </a:t>
            </a:r>
            <a:r>
              <a:rPr lang="en-IN" sz="1000" dirty="0" err="1"/>
              <a:t>informa-tion</a:t>
            </a:r>
            <a:r>
              <a:rPr lang="en-IN" sz="1000" dirty="0"/>
              <a:t> retrieval of structured database via large language models,” </a:t>
            </a:r>
            <a:r>
              <a:rPr lang="en-IN" sz="1000" dirty="0" err="1"/>
              <a:t>arXiv</a:t>
            </a:r>
            <a:r>
              <a:rPr lang="en-IN" sz="1000" dirty="0"/>
              <a:t> preprintarXiv:2405.05508, 2024.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[7]</a:t>
            </a:r>
            <a:r>
              <a:rPr lang="en-IN" sz="1000" dirty="0"/>
              <a:t> J. Myung, J. Park, S. Park, K. Lee, H. Kim, and S. Lee, “Hyst: </a:t>
            </a:r>
            <a:r>
              <a:rPr lang="en-IN" sz="1000" dirty="0" err="1"/>
              <a:t>Llm-poweredhybrid</a:t>
            </a:r>
            <a:r>
              <a:rPr lang="en-IN" sz="1000" dirty="0"/>
              <a:t> retrieval over semi-structured tabular data,” in Proceedings of the 2nd </a:t>
            </a:r>
            <a:r>
              <a:rPr lang="en-IN" sz="1000" dirty="0" err="1"/>
              <a:t>EARLWorkshop</a:t>
            </a:r>
            <a:r>
              <a:rPr lang="en-IN" sz="1000" dirty="0"/>
              <a:t> on Evaluating and Applying Recommender Systems with LLMs, 2025.16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2;p24">
            <a:extLst>
              <a:ext uri="{FF2B5EF4-FFF2-40B4-BE49-F238E27FC236}">
                <a16:creationId xmlns:a16="http://schemas.microsoft.com/office/drawing/2014/main" id="{301645CE-ECCA-0A54-BB2E-82655B7C5AA1}"/>
              </a:ext>
            </a:extLst>
          </p:cNvPr>
          <p:cNvSpPr txBox="1">
            <a:spLocks/>
          </p:cNvSpPr>
          <p:nvPr/>
        </p:nvSpPr>
        <p:spPr>
          <a:xfrm>
            <a:off x="252228" y="496566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2" action="ppaction://hlinksldjump"/>
              </a:rPr>
              <a:t>[8]</a:t>
            </a:r>
            <a:r>
              <a:rPr lang="en-IN" sz="1000" dirty="0"/>
              <a:t> C. Shorten, C. Pierse, T. B. Smith, E. Cardenas, A. Sharma, J. </a:t>
            </a:r>
            <a:r>
              <a:rPr lang="en-IN" sz="1000" dirty="0" err="1"/>
              <a:t>Trengrove</a:t>
            </a:r>
            <a:r>
              <a:rPr lang="en-IN" sz="1000" dirty="0"/>
              <a:t>, and B. </a:t>
            </a:r>
            <a:r>
              <a:rPr lang="en-IN" sz="1000" dirty="0" err="1"/>
              <a:t>vanLuijt</a:t>
            </a:r>
            <a:r>
              <a:rPr lang="en-IN" sz="1000" dirty="0"/>
              <a:t>, “</a:t>
            </a:r>
            <a:r>
              <a:rPr lang="en-IN" sz="1000" dirty="0" err="1"/>
              <a:t>Structuredrag</a:t>
            </a:r>
            <a:r>
              <a:rPr lang="en-IN" sz="1000" dirty="0"/>
              <a:t>: Json response formatting with large language models,” </a:t>
            </a:r>
            <a:r>
              <a:rPr lang="en-IN" sz="1000" dirty="0" err="1"/>
              <a:t>arXivpreprint</a:t>
            </a:r>
            <a:r>
              <a:rPr lang="en-IN" sz="1000" dirty="0"/>
              <a:t> arXiv:2408.11061, 2024.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2" action="ppaction://hlinksldjump"/>
              </a:rPr>
              <a:t>[9]</a:t>
            </a:r>
            <a:r>
              <a:rPr lang="en-IN" sz="1000" dirty="0"/>
              <a:t> S. Akhtar, S. Khan, and S. Parkinson, “</a:t>
            </a:r>
            <a:r>
              <a:rPr lang="en-IN" sz="1000" dirty="0" err="1"/>
              <a:t>Llm</a:t>
            </a:r>
            <a:r>
              <a:rPr lang="en-IN" sz="1000" dirty="0"/>
              <a:t>-based event log analysis techniques: </a:t>
            </a:r>
            <a:r>
              <a:rPr lang="en-IN" sz="1000" dirty="0" err="1"/>
              <a:t>Asurvey</a:t>
            </a:r>
            <a:r>
              <a:rPr lang="en-IN" sz="1000" dirty="0"/>
              <a:t>,” </a:t>
            </a:r>
            <a:r>
              <a:rPr lang="en-IN" sz="1000" dirty="0" err="1"/>
              <a:t>arXiv</a:t>
            </a:r>
            <a:r>
              <a:rPr lang="en-IN" sz="1000" dirty="0"/>
              <a:t> preprint arXiv:2502.00677, 2025.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[10]</a:t>
            </a:r>
            <a:r>
              <a:rPr lang="en-IN" sz="1000" dirty="0"/>
              <a:t> A. </a:t>
            </a:r>
            <a:r>
              <a:rPr lang="en-IN" sz="1000" dirty="0" err="1"/>
              <a:t>Karbalaie</a:t>
            </a:r>
            <a:r>
              <a:rPr lang="en-IN" sz="1000" dirty="0"/>
              <a:t>, F. Abtahi, and M. </a:t>
            </a:r>
            <a:r>
              <a:rPr lang="en-IN" sz="1000" dirty="0" err="1"/>
              <a:t>Sj¨ostrom</a:t>
            </a:r>
            <a:r>
              <a:rPr lang="en-IN" sz="1000" dirty="0"/>
              <a:t>, “Event detection in surveillance </a:t>
            </a:r>
            <a:r>
              <a:rPr lang="en-IN" sz="1000" dirty="0" err="1"/>
              <a:t>videos:a</a:t>
            </a:r>
            <a:r>
              <a:rPr lang="en-IN" sz="1000" dirty="0"/>
              <a:t> review,” Multimedia Tools and Applications, vol. 81, pp. 35463–35501, 2022.</a:t>
            </a:r>
          </a:p>
        </p:txBody>
      </p:sp>
    </p:spTree>
    <p:extLst>
      <p:ext uri="{BB962C8B-B14F-4D97-AF65-F5344CB8AC3E}">
        <p14:creationId xmlns:p14="http://schemas.microsoft.com/office/powerpoint/2010/main" val="30291460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/>
        </p:nvSpPr>
        <p:spPr>
          <a:xfrm>
            <a:off x="2359630" y="2263988"/>
            <a:ext cx="4424739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dirty="0">
                <a:solidFill>
                  <a:schemeClr val="dk2"/>
                </a:solidFill>
              </a:rPr>
              <a:t>Questions / Discussions </a:t>
            </a:r>
            <a:endParaRPr sz="2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/>
        </p:nvSpPr>
        <p:spPr>
          <a:xfrm>
            <a:off x="3791984" y="2263988"/>
            <a:ext cx="156003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dirty="0">
                <a:solidFill>
                  <a:schemeClr val="dk2"/>
                </a:solidFill>
              </a:rPr>
              <a:t>Thanks</a:t>
            </a:r>
            <a:endParaRPr sz="2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3447</TotalTime>
  <Words>1837</Words>
  <Application>Microsoft Office PowerPoint</Application>
  <PresentationFormat>On-screen Show (16:9)</PresentationFormat>
  <Paragraphs>195</Paragraphs>
  <Slides>26</Slides>
  <Notes>13</Notes>
  <HiddenSlides>4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8" baseType="lpstr">
      <vt:lpstr>Arial</vt:lpstr>
      <vt:lpstr>Simple Light</vt:lpstr>
      <vt:lpstr>Fast Forwarding CCTV insights  with LLM &amp; CV</vt:lpstr>
      <vt:lpstr>Problem Definition</vt:lpstr>
      <vt:lpstr>Objectives  </vt:lpstr>
      <vt:lpstr>Progress (Review 1 and 2)</vt:lpstr>
      <vt:lpstr>Progress (Review 3)</vt:lpstr>
      <vt:lpstr>Literature Review  </vt:lpstr>
      <vt:lpstr>Literature Review  </vt:lpstr>
      <vt:lpstr>Literature Review  </vt:lpstr>
      <vt:lpstr>Literature Review</vt:lpstr>
      <vt:lpstr>System Flow Diagram  </vt:lpstr>
      <vt:lpstr>System Flow Overview</vt:lpstr>
      <vt:lpstr>System Flow Overview</vt:lpstr>
      <vt:lpstr>System Flow Overview</vt:lpstr>
      <vt:lpstr>CV Event Detection and Data Pipepline</vt:lpstr>
      <vt:lpstr>LLM Reasoning Approach – 1 (NL - SQL)</vt:lpstr>
      <vt:lpstr>LLM Reasoning Approach – 2 (RAG)</vt:lpstr>
      <vt:lpstr>Data Description</vt:lpstr>
      <vt:lpstr>Data Sample</vt:lpstr>
      <vt:lpstr>Demo</vt:lpstr>
      <vt:lpstr>Query Examples</vt:lpstr>
      <vt:lpstr>Future Scopes  </vt:lpstr>
      <vt:lpstr>Progress</vt:lpstr>
      <vt:lpstr>References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Surveillance System Driven by LLM &amp; CV</dc:title>
  <dc:creator>Avadh Ladani</dc:creator>
  <cp:lastModifiedBy>Avadh Ladani</cp:lastModifiedBy>
  <cp:revision>14</cp:revision>
  <dcterms:modified xsi:type="dcterms:W3CDTF">2026-02-22T05:07:02Z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-1</vt:lpwstr>
  </property>
  <property fmtid="{D5CDD505-2E9C-101B-9397-08002B2CF9AE}" pid="3" name="MSIP_Label_a15a25aa-e944-415d-b7a7-40f6b9180b6b_SetDate">
    <vt:lpwstr>2026-02-20 11:20:59Z</vt:lpwstr>
  </property>
  <property fmtid="{D5CDD505-2E9C-101B-9397-08002B2CF9AE}" pid="4" name="MSIP_Label_a15a25aa-e944-415d-b7a7-40f6b9180b6b_Method">
    <vt:lpwstr>Privileged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c2df3124-73d7-406d-ac11-f1577b65f75a</vt:lpwstr>
  </property>
  <property fmtid="{D5CDD505-2E9C-101B-9397-08002B2CF9AE}" pid="8" name="MSIP_Label_a15a25aa-e944-415d-b7a7-40f6b9180b6b_ContentBits">
    <vt:lpwstr>0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2026-02-20T11:20:59Z</vt:filetime>
  </property>
  <property fmtid="{D5CDD505-2E9C-101B-9397-08002B2CF9AE}" pid="15" name="empower.integration.Classification.DateFormat">
    <vt:lpwstr/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false</vt:bool>
  </property>
</Properties>
</file>